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demonstration of how disciplined engineering practices, contract-first design, and modern quality gates transform legacy technical debt into scalable, multiplatform product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Rather than a high-risk rewrite, we executed an incremental Strangler Fig migration with zero regressions across 4 sprints, replacing legacy code with clean architectural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headless KMP architecture shares 50% of the core business, network, and caching logic with iOS while preserving 100% native UI fidelity and performance on both platforms.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Engineering excellence connects documentation directly to deployment: ADR contracts allow engineers to build in parallel without blocking each other, moving safely through automated quality gates into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treat AI as a velocity multiplier bound by strict security guardrails: zero secrets, compliance with Yumemi AI policies, living skill governance, and 100% human accountability.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achieved 81.2% line coverage and sub-2-second JVM test execution, empirically validating CPU, memory, network, pagination, and caching using Android Studio Profiler.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Compose Previews shrink developer inner loops from minutes to seconds, letting developers catch edge-case UI regressions before code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Senior engineering means empathy for evaluators: the mock flavor guarantees an immediate, deterministic, zero-friction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UI adapts defensively across phones and tablets with dynamic bilingual switching and zero-layout-shift skeletons.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demo videos in docs/videos/ provide comprehensive proof of responsiveness, dynamic theme toggling, bilingual localization, and fluid 60fps animations on Phone and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project proves that the same architecture powering high-velocity agile sprints is engineered for very large-scale production apps—handling millions of users, distributed teams, and rigorous performance demands.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685800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ENTERPRISE MODERNIZATION CASE STUDY</a:t>
            </a:r>
          </a:p>
          <a:p>
            <a:pPr>
              <a:spcAft>
                <a:spcPts val="1600"/>
              </a:spcAft>
              <a:defRPr sz="3600" b="1">
                <a:solidFill>
                  <a:srgbClr val="F8FAFC"/>
                </a:solidFill>
                <a:latin typeface="Helvetica"/>
              </a:defRPr>
            </a:pPr>
            <a:r>
              <a:t>Modernizing Android:</a:t>
            </a:r>
            <a:br/>
            <a:r>
              <a:t>Clean Architecture &amp;</a:t>
            </a:r>
            <a:br/>
            <a:r>
              <a:t>Multiplatform Strategy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  <a:latin typeface="Helvetica"/>
              </a:defRPr>
            </a:pPr>
            <a:r>
              <a:t>Transforming technical debt into a resilient, multiplatform product delivery engine across 4 agile sprints.</a:t>
            </a:r>
          </a:p>
          <a:p>
            <a:pPr>
              <a:defRPr sz="1300" b="1">
                <a:solidFill>
                  <a:srgbClr val="818CF8"/>
                </a:solidFill>
                <a:latin typeface="Helvetica"/>
              </a:defRPr>
            </a:pPr>
            <a:r>
              <a:t>Presenter: Dinakar Prasad Maurya  |  Yumemi Android Engineer Code Check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STRATEGY &amp;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The Challenge vs. Modernization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Helvetica"/>
              </a:defRPr>
            </a:pPr>
            <a:r>
              <a:t>Migrating high-risk technical debt using the incremental Strangler Fig pattern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F87171"/>
                </a:solidFill>
                <a:latin typeface="Helvetica"/>
              </a:defRPr>
            </a:pPr>
            <a:r>
              <a:t>⚠️  LEGACY MONOLITH (INITIAL STATE)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Monolithic Architecture: </a:t>
            </a:r>
            <a:r>
              <a:rPr b="0" sz="1100">
                <a:solidFill>
                  <a:srgbClr val="94A3B8"/>
                </a:solidFill>
              </a:rPr>
              <a:t>Single ':app' module with networking, JSON parsing, and UI tightly coupled in one Activity.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Thread Blocking &amp; Memory Leaks: </a:t>
            </a:r>
            <a:r>
              <a:rPr b="0" sz="1100">
                <a:solidFill>
                  <a:srgbClr val="94A3B8"/>
                </a:solidFill>
              </a:rPr>
              <a:t>Main-thread freezes via runBlocking; Fragment ViewBinding leaks causing Out-Of-Memory (OOM).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Zero Automated Safety Net: </a:t>
            </a:r>
            <a:r>
              <a:rPr b="0" sz="1100">
                <a:solidFill>
                  <a:srgbClr val="94A3B8"/>
                </a:solidFill>
              </a:rPr>
              <a:t>0 automated tests (0% line coverage); high regression risk for every modification.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Unhandled Edge Cases &amp; Crashes: </a:t>
            </a:r>
            <a:r>
              <a:rPr b="0" sz="1100">
                <a:solidFill>
                  <a:srgbClr val="94A3B8"/>
                </a:solidFill>
              </a:rPr>
              <a:t>Unhandled HTTP 403 GitHub rate limits, missing error states, and unhandled rotation process death.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34D399"/>
                </a:solidFill>
                <a:latin typeface="Helvetica"/>
              </a:defRPr>
            </a:pPr>
            <a:r>
              <a:t>✅  STRANGLER FIG MODERNIZATION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4 Structured Agile Sprints: </a:t>
            </a:r>
            <a:r>
              <a:rPr b="0" sz="1100">
                <a:solidFill>
                  <a:srgbClr val="94A3B8"/>
                </a:solidFill>
              </a:rPr>
              <a:t>Zero big-bang rewrites; incremental feature extraction with production integrity at every step.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Contract-First Architecture: </a:t>
            </a:r>
            <a:r>
              <a:rPr b="0" sz="1100">
                <a:solidFill>
                  <a:srgbClr val="94A3B8"/>
                </a:solidFill>
              </a:rPr>
              <a:t>Pure Kotlin domain models unblock parallel squad development between UI and Data.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Defensive Quality Gates: </a:t>
            </a:r>
            <a:r>
              <a:rPr b="0" sz="1100">
                <a:solidFill>
                  <a:srgbClr val="94A3B8"/>
                </a:solidFill>
              </a:rPr>
              <a:t>170 automated tests (81.2% coverage), Turbine Flow testing, and Detekt CI analysis.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100% Offline Mock Flavor: </a:t>
            </a:r>
            <a:r>
              <a:rPr b="0" sz="1100">
                <a:solidFill>
                  <a:srgbClr val="94A3B8"/>
                </a:solidFill>
              </a:rPr>
              <a:t>Bypasses GitHub's 60 req/hr rate limit with 12 deterministic test fixtures for flawless reviews.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Multi-Platform Architecture (Clean Arch + KMP)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Helvetica"/>
              </a:defRPr>
            </a:pPr>
            <a:r>
              <a:t>Decoupled 12-module Clean Architecture with 50% core code sharing across Android &amp; 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38BDF8"/>
                </a:solidFill>
                <a:latin typeface="Helvetica"/>
              </a:defRPr>
            </a:pPr>
            <a:r>
              <a:t>🏛️  CORE &amp; DOMAIN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:core:domain</a:t>
            </a:r>
            <a:br/>
            <a:r>
              <a:rPr b="0" sz="1000">
                <a:solidFill>
                  <a:srgbClr val="94A3B8"/>
                </a:solidFill>
              </a:rPr>
              <a:t>Pure Kotlin business models (RepositoryItem, Owner) &amp; repository interfaces. Zero Android dependencies.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:core:network</a:t>
            </a:r>
            <a:br/>
            <a:r>
              <a:rPr b="0" sz="1000">
                <a:solidFill>
                  <a:srgbClr val="94A3B8"/>
                </a:solidFill>
              </a:rPr>
              <a:t>Ktor HTTP client engine with explicit URL logging, serialization, and timeout handling.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:core:data</a:t>
            </a:r>
            <a:br/>
            <a:r>
              <a:rPr b="0" sz="1000">
                <a:solidFill>
                  <a:srgbClr val="94A3B8"/>
                </a:solidFill>
              </a:rPr>
              <a:t>GitHubRepositoryImpl with query caching (TTL expiration) &amp; resilient network error mapping.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:shared-core</a:t>
            </a:r>
            <a:br/>
            <a:r>
              <a:rPr b="0" sz="1000">
                <a:solidFill>
                  <a:srgbClr val="94A3B8"/>
                </a:solidFill>
              </a:rPr>
              <a:t>Umbrella KMP module exporting shared_core.framework for iOS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818CF8"/>
                </a:solidFill>
                <a:latin typeface="Helvetica"/>
              </a:defRPr>
            </a:pPr>
            <a:r>
              <a:t>📱  FEATURES &amp; UI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:feature:search</a:t>
            </a:r>
            <a:br/>
            <a:r>
              <a:rPr b="0" sz="1000">
                <a:solidFill>
                  <a:srgbClr val="94A3B8"/>
                </a:solidFill>
              </a:rPr>
              <a:t>Repository search with 300ms debounce, Flow state, and Compose list.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:feature:detail</a:t>
            </a:r>
            <a:br/>
            <a:r>
              <a:rPr b="0" sz="1000">
                <a:solidFill>
                  <a:srgbClr val="94A3B8"/>
                </a:solidFill>
              </a:rPr>
              <a:t>Detailed stats, owner profile, and Chrome Custom Tabs web launch.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:feature:settings</a:t>
            </a:r>
            <a:br/>
            <a:r>
              <a:rPr b="0" sz="1000">
                <a:solidFill>
                  <a:srgbClr val="94A3B8"/>
                </a:solidFill>
              </a:rPr>
              <a:t>Dynamic Theme (System/Dark/Light) &amp; Dynamic in-app Language (JA/EN).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:feature:starred</a:t>
            </a:r>
            <a:br/>
            <a:r>
              <a:rPr b="0" sz="1000">
                <a:solidFill>
                  <a:srgbClr val="94A3B8"/>
                </a:solidFill>
              </a:rPr>
              <a:t>Local starred bookmark persistence with instant UI state sync.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:core:designsystem</a:t>
            </a:r>
            <a:br/>
            <a:r>
              <a:rPr b="0" sz="1000">
                <a:solidFill>
                  <a:srgbClr val="94A3B8"/>
                </a:solidFill>
              </a:rPr>
              <a:t>Material 3 tokens, CodeCheckTheme, and responsive layouts.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01168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34D399"/>
                </a:solidFill>
                <a:latin typeface="Helvetica"/>
              </a:defRPr>
            </a:pPr>
            <a:r>
              <a:t>⚡  NATIVE PLATFORMS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Android: Single Activity App</a:t>
            </a:r>
            <a:br/>
            <a:r>
              <a:rPr b="0" sz="1000">
                <a:solidFill>
                  <a:srgbClr val="94A3B8"/>
                </a:solidFill>
              </a:rPr>
              <a:t>MainActivity (@AndroidEntryPoint) hosting Compose AppNavHost with Hilt dependency injection.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Android: 100% Jetpack Compose</a:t>
            </a:r>
            <a:br/>
            <a:r>
              <a:rPr b="0" sz="1000">
                <a:solidFill>
                  <a:srgbClr val="94A3B8"/>
                </a:solidFill>
              </a:rPr>
              <a:t>Unidirectional Data Flow (UDF) via StateFlow, supporting light/dark theme &amp; multi-device preview.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iOS: Native SwiftUI App</a:t>
            </a:r>
            <a:br/>
            <a:r>
              <a:rPr b="0" sz="1000">
                <a:solidFill>
                  <a:srgbClr val="94A3B8"/>
                </a:solidFill>
              </a:rPr>
              <a:t>iosApp/CodeCheck-iOS companion consuming shared_core via Swift async/await without rewriting business logic.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High Code Reusability</a:t>
            </a:r>
            <a:br/>
            <a:r>
              <a:rPr b="0" sz="1000">
                <a:solidFill>
                  <a:srgbClr val="94A3B8"/>
                </a:solidFill>
              </a:rPr>
              <a:t>50% core code reuse with 100% native UI fidelity and platform-native performance.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TEAM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Documentation-to-Delivery: End-to-End Team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Helvetica"/>
              </a:defRPr>
            </a:pPr>
            <a:r>
              <a:t>Contract-first development, automated review gates, and multi-tier release trains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  <a:latin typeface="Helvetica"/>
              </a:defRPr>
            </a:pPr>
            <a:r>
              <a:t>1. Architecture Contracts</a:t>
            </a:r>
          </a:p>
          <a:p>
            <a:pPr>
              <a:spcAft>
                <a:spcPts val="1600"/>
              </a:spcAft>
              <a:defRPr sz="1100">
                <a:solidFill>
                  <a:srgbClr val="CBD5E1"/>
                </a:solidFill>
                <a:latin typeface="Helvetica"/>
              </a:defRPr>
            </a:pPr>
            <a:r>
              <a:t>8 formal Architecture Decision Records (ADRs) define contracts before implementation begins.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🎯 Zero Ambiguity:</a:t>
            </a:r>
            <a:br/>
            <a:r>
              <a:t>Decisions documented in 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01168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818CF8"/>
                </a:solidFill>
                <a:latin typeface="Helvetica"/>
              </a:defRPr>
            </a:pPr>
            <a:r>
              <a:t>2. Parallel Squad Dev</a:t>
            </a:r>
          </a:p>
          <a:p>
            <a:pPr>
              <a:spcAft>
                <a:spcPts val="1600"/>
              </a:spcAft>
              <a:defRPr sz="1100">
                <a:solidFill>
                  <a:srgbClr val="CBD5E1"/>
                </a:solidFill>
                <a:latin typeface="Helvetica"/>
              </a:defRPr>
            </a:pPr>
            <a:r>
              <a:t>UI teams develop against fake repositories while Data teams implement Ktor APIs simultaneously.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🚀 Zero Blocking:</a:t>
            </a:r>
            <a:br/>
            <a:r>
              <a:t>Independent testable squads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51460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01168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FBBF24"/>
                </a:solidFill>
                <a:latin typeface="Helvetica"/>
              </a:defRPr>
            </a:pPr>
            <a:r>
              <a:t>3. 5-Tier Review Gate</a:t>
            </a:r>
          </a:p>
          <a:p>
            <a:pPr>
              <a:spcAft>
                <a:spcPts val="1600"/>
              </a:spcAft>
              <a:defRPr sz="1100">
                <a:solidFill>
                  <a:srgbClr val="CBD5E1"/>
                </a:solidFill>
                <a:latin typeface="Helvetica"/>
              </a:defRPr>
            </a:pPr>
            <a:r>
              <a:t>Self-review → AI check → Automated CI → Bot linting → Peer review with Conventional Badges.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🛡️ Conventional Badges:</a:t>
            </a:r>
            <a:br/>
            <a:r>
              <a:t>[must] [imo] [nits] [memo]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28800"/>
            <a:ext cx="251460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201168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4D399"/>
                </a:solidFill>
                <a:latin typeface="Helvetica"/>
              </a:defRPr>
            </a:pPr>
            <a:r>
              <a:t>4. Release Promotion</a:t>
            </a:r>
          </a:p>
          <a:p>
            <a:pPr>
              <a:spcAft>
                <a:spcPts val="1600"/>
              </a:spcAft>
              <a:defRPr sz="1100">
                <a:solidFill>
                  <a:srgbClr val="CBD5E1"/>
                </a:solidFill>
                <a:latin typeface="Helvetica"/>
              </a:defRPr>
            </a:pPr>
            <a:r>
              <a:t>3-tier branch promotion (dev → stg → main) across 4 product flavors (dev, mock, stg, prod).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📦 Production Safe:</a:t>
            </a:r>
            <a:br/>
            <a:r>
              <a:t>Zero-downtime releases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AI &amp; SECURITY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AI-Augmented Engineering, Security &amp; Governance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Helvetica"/>
              </a:defRPr>
            </a:pPr>
            <a:r>
              <a:t>Multi-model orchestration paired with enterprise zero-trust security and human accountability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2900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  <a:latin typeface="Helvetica"/>
              </a:defRPr>
            </a:pPr>
            <a:r>
              <a:t>🤖 Multi-Tool Orchestration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Google Gemini 1.5: </a:t>
            </a:r>
            <a:r>
              <a:rPr b="0" sz="1000">
                <a:solidFill>
                  <a:srgbClr val="94A3B8"/>
                </a:solidFill>
              </a:rPr>
              <a:t>Architecture, clean multi-module contracts, test writing.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Claude Code &amp; Sonnet: </a:t>
            </a:r>
            <a:r>
              <a:rPr b="0" sz="1000">
                <a:solidFill>
                  <a:srgbClr val="94A3B8"/>
                </a:solidFill>
              </a:rPr>
              <a:t>Pair programming, refactoring, and HTML UI/UX design specs.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GitHub Copilot: </a:t>
            </a:r>
            <a:r>
              <a:rPr b="0" sz="1000">
                <a:solidFill>
                  <a:srgbClr val="94A3B8"/>
                </a:solidFill>
              </a:rPr>
              <a:t>In-IDE autocomplete and repetitive boilerplate acceleration.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42900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2011680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F87171"/>
                </a:solidFill>
                <a:latin typeface="Helvetica"/>
              </a:defRPr>
            </a:pPr>
            <a:r>
              <a:t>🛡️ Enterprise Security &amp; Privacy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Zero Secret Leakage: </a:t>
            </a:r>
            <a:r>
              <a:rPr b="0" sz="1000">
                <a:solidFill>
                  <a:srgbClr val="94A3B8"/>
                </a:solidFill>
              </a:rPr>
              <a:t>Strictly no API tokens, private keys, or credentials committed or sent to external LLMs.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Local Isolation: </a:t>
            </a:r>
            <a:r>
              <a:rPr b="0" sz="1000">
                <a:solidFill>
                  <a:srgbClr val="94A3B8"/>
                </a:solidFill>
              </a:rPr>
              <a:t>API tokens kept exclusively in local.properties; .gitignore strictly enforced.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Defensive Network Layer: </a:t>
            </a:r>
            <a:r>
              <a:rPr b="0" sz="1000">
                <a:solidFill>
                  <a:srgbClr val="94A3B8"/>
                </a:solidFill>
              </a:rPr>
              <a:t>Graceful handling of rate limits and network errors without exposing tokens.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828800"/>
            <a:ext cx="342900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011680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4D399"/>
                </a:solidFill>
                <a:latin typeface="Helvetica"/>
              </a:defRPr>
            </a:pPr>
            <a:r>
              <a:t>⚖️ Zero-Trust Verification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100% Human Accountability: </a:t>
            </a:r>
            <a:r>
              <a:rPr b="0" sz="1000">
                <a:solidFill>
                  <a:srgbClr val="94A3B8"/>
                </a:solidFill>
              </a:rPr>
              <a:t>Every single line of AI-assisted code is verified by human engineers.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Automated Gatekeeper: </a:t>
            </a:r>
            <a:r>
              <a:rPr b="0" sz="1000">
                <a:solidFill>
                  <a:srgbClr val="94A3B8"/>
                </a:solidFill>
              </a:rPr>
              <a:t>All code must compile, pass 170 tests, and have 0 Detekt violations.</a:t>
            </a:r>
          </a:p>
          <a:p>
            <a:pPr>
              <a:spcAft>
                <a:spcPts val="1000"/>
              </a:spcAft>
              <a:defRPr b="1" sz="1100">
                <a:solidFill>
                  <a:srgbClr val="F8FAFC"/>
                </a:solidFill>
              </a:defRPr>
            </a:pPr>
            <a:r>
              <a:t>Living AI Skills: </a:t>
            </a:r>
            <a:r>
              <a:rPr b="0" sz="1000">
                <a:solidFill>
                  <a:srgbClr val="94A3B8"/>
                </a:solidFill>
              </a:rPr>
              <a:t>Reusable skills in .agents/skills/ &amp; .claude/skills/ prevent architectural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QUALITY &amp;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Quality Gates, Testing Strategy &amp; 0-Defect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Helvetica"/>
              </a:defRPr>
            </a:pPr>
            <a:r>
              <a:t>81.2% coverage, sub-2s JVM test execution, and telemetry-verified performance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100584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170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Automated 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100584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74519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4D399"/>
                </a:solidFill>
                <a:latin typeface="Helvetica"/>
              </a:defRPr>
            </a:pPr>
            <a:r>
              <a:t>81.2%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Kover Line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514600" cy="100584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74519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BBF24"/>
                </a:solidFill>
                <a:latin typeface="Helvetica"/>
              </a:defRPr>
            </a:pPr>
            <a:r>
              <a:t>&lt; 2.0s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JVM Test Run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28800"/>
            <a:ext cx="2514600" cy="100584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874519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18CF8"/>
                </a:solidFill>
                <a:latin typeface="Helvetica"/>
              </a:defRPr>
            </a:pPr>
            <a:r>
              <a:t>0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Detekt Violations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17520"/>
            <a:ext cx="8046720" cy="329184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2A38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154680"/>
            <a:ext cx="749807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8BDF8"/>
                </a:solidFill>
                <a:latin typeface="Helvetica"/>
              </a:defRPr>
            </a:pPr>
            <a:r>
              <a:t>🔬 EMPIRICAL VERIFICATION ACROSS MULTIPLE DIMENSIONS</a:t>
            </a:r>
          </a:p>
          <a:p>
            <a:pPr>
              <a:spcAft>
                <a:spcPts val="400"/>
              </a:spcAft>
              <a:defRPr b="1" sz="1100">
                <a:solidFill>
                  <a:srgbClr val="F8FAFC"/>
                </a:solidFill>
              </a:defRPr>
            </a:pPr>
            <a:r>
              <a:t>•  Turbine Flow Testing &amp; Ktor MockEngine: </a:t>
            </a:r>
            <a:r>
              <a:rPr b="0" sz="1000">
                <a:solidFill>
                  <a:srgbClr val="94A3B8"/>
                </a:solidFill>
              </a:rPr>
              <a:t>Tests full state transitions deterministically without live internet access.</a:t>
            </a:r>
          </a:p>
          <a:p>
            <a:pPr>
              <a:spcAft>
                <a:spcPts val="400"/>
              </a:spcAft>
              <a:defRPr b="1" sz="1100">
                <a:solidFill>
                  <a:srgbClr val="F8FAFC"/>
                </a:solidFill>
              </a:defRPr>
            </a:pPr>
            <a:r>
              <a:t>•  Pagination &amp; Chunking Resilience: </a:t>
            </a:r>
            <a:r>
              <a:rPr b="0" sz="1000">
                <a:solidFill>
                  <a:srgbClr val="94A3B8"/>
                </a:solidFill>
              </a:rPr>
              <a:t>Unit-tested incremental paging (loadNextPage), state appending, and edge boundary detection.</a:t>
            </a:r>
          </a:p>
          <a:p>
            <a:pPr>
              <a:spcAft>
                <a:spcPts val="400"/>
              </a:spcAft>
              <a:defRPr b="1" sz="1100">
                <a:solidFill>
                  <a:srgbClr val="F8FAFC"/>
                </a:solidFill>
              </a:defRPr>
            </a:pPr>
            <a:r>
              <a:t>•  Loading UX &amp; Shimmer Skeletons: </a:t>
            </a:r>
            <a:r>
              <a:rPr b="0" sz="1000">
                <a:solidFill>
                  <a:srgbClr val="94A3B8"/>
                </a:solidFill>
              </a:rPr>
              <a:t>Zero-layout-shift (CLS) skeleton screens for instant visual feedback during queries.</a:t>
            </a:r>
          </a:p>
          <a:p>
            <a:pPr>
              <a:spcAft>
                <a:spcPts val="400"/>
              </a:spcAft>
              <a:defRPr b="1" sz="1100">
                <a:solidFill>
                  <a:srgbClr val="F8FAFC"/>
                </a:solidFill>
              </a:defRPr>
            </a:pPr>
            <a:r>
              <a:t>•  High-Performance Cache &amp; Debounce: </a:t>
            </a:r>
            <a:r>
              <a:rPr b="0" sz="1000">
                <a:solidFill>
                  <a:srgbClr val="94A3B8"/>
                </a:solidFill>
              </a:rPr>
              <a:t>Thread-safe InMemoryCache with TTL expiration and 300ms query debounce preventing spam.</a:t>
            </a:r>
          </a:p>
          <a:p>
            <a:pPr>
              <a:spcAft>
                <a:spcPts val="400"/>
              </a:spcAft>
              <a:defRPr b="1" sz="1100">
                <a:solidFill>
                  <a:srgbClr val="F8FAFC"/>
                </a:solidFill>
              </a:defRPr>
            </a:pPr>
            <a:r>
              <a:t>•  Android Studio Profiling Verification: </a:t>
            </a:r>
            <a:r>
              <a:rPr b="0" sz="1000">
                <a:solidFill>
                  <a:srgbClr val="94A3B8"/>
                </a:solidFill>
              </a:rPr>
              <a:t>CPU Trace (0 main-thread blocks), Heap Dump (0 leaks), and Network Inspector 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828800"/>
            <a:ext cx="2286000" cy="448056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2-search-lo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21945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DEVELOPER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Fast Inner Loop: Compose Previews &amp; Velocity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Helvetica"/>
              </a:defRPr>
            </a:pPr>
            <a:r>
              <a:t>Sub-second visual feedback loops catching edge-case UI regressions before code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0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18CF8"/>
                </a:solidFill>
                <a:latin typeface="Helvetica"/>
              </a:defRPr>
            </a:pPr>
            <a:r>
              <a:t>⚡ ACCELERATING THE INNER LOOP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Zero Build Wait Time</a:t>
            </a:r>
            <a:br/>
            <a:r>
              <a:t>   </a:t>
            </a:r>
            <a:r>
              <a:rPr b="0" sz="1100">
                <a:solidFill>
                  <a:srgbClr val="94A3B8"/>
                </a:solidFill>
              </a:rPr>
              <a:t>Inspect UI composables instantly in Android Studio without compiling full APKs or booting heavy emulators.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Simultaneous Multi-State Canvas</a:t>
            </a:r>
            <a:br/>
            <a:r>
              <a:t>   </a:t>
            </a:r>
            <a:r>
              <a:rPr b="0" sz="1100">
                <a:solidFill>
                  <a:srgbClr val="94A3B8"/>
                </a:solidFill>
              </a:rPr>
              <a:t>Renders Light, Dark, Loading (Skeleton), Empty, and Error states side-by-side on a single preview surface.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100% Offline Preview Mocks</a:t>
            </a:r>
            <a:br/>
            <a:r>
              <a:t>   </a:t>
            </a:r>
            <a:r>
              <a:rPr b="0" sz="1100">
                <a:solidFill>
                  <a:srgbClr val="94A3B8"/>
                </a:solidFill>
              </a:rPr>
              <a:t>UI engineers design and fine-tune complex components without backend API dependencies or network lag.</a:t>
            </a:r>
          </a:p>
          <a:p>
            <a:pPr>
              <a:spcAft>
                <a:spcPts val="1000"/>
              </a:spcAft>
              <a:defRPr b="1" sz="1200">
                <a:solidFill>
                  <a:srgbClr val="F8FAFC"/>
                </a:solidFill>
              </a:defRPr>
            </a:pPr>
            <a:r>
              <a:t>•  Multi-Device &amp; Orientation Checks</a:t>
            </a:r>
            <a:br/>
            <a:r>
              <a:t>   </a:t>
            </a:r>
            <a:r>
              <a:rPr b="0" sz="1100">
                <a:solidFill>
                  <a:srgbClr val="94A3B8"/>
                </a:solidFill>
              </a:rPr>
              <a:t>Real-time phone vs. tablet layout previews ensuring zero layout shifts and seamless adaptive FlowRow wrapping.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828800"/>
            <a:ext cx="237744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search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74519"/>
            <a:ext cx="228600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235440" y="1828800"/>
            <a:ext cx="237744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-search-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1160" y="1874519"/>
            <a:ext cx="22860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DEFENSIVE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Reviewer Empathy: 100% Offline 'mock' Flavor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Helvetica"/>
              </a:defRPr>
            </a:pPr>
            <a:r>
              <a:t>Eliminating GitHub API rate limits with deterministic fixtures and zero-friction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93192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566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87171"/>
                </a:solidFill>
                <a:latin typeface="Helvetica"/>
              </a:defRPr>
            </a:pPr>
            <a:r>
              <a:t>⚠️ THE RATE LIMIT TRAP</a:t>
            </a:r>
          </a:p>
          <a:p>
            <a:pPr>
              <a:spcAft>
                <a:spcPts val="1400"/>
              </a:spcAft>
              <a:defRPr sz="1100">
                <a:solidFill>
                  <a:srgbClr val="CBD5E1"/>
                </a:solidFill>
                <a:latin typeface="Helvetica"/>
              </a:defRPr>
            </a:pPr>
            <a:r>
              <a:t>GitHub's public API enforces a strict 60 requests/hour limit per IP address.</a:t>
            </a:r>
            <a:br/>
            <a:br/>
            <a:r>
              <a:t>Evaluators testing candidates' apps frequently hit unexpected HTTP 403 crashes when testing multiple search queries or running automated suites.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Impact on Candidate Evaluation:</a:t>
            </a:r>
            <a:br/>
            <a:r>
              <a:t>• App appears broken to reviewer</a:t>
            </a:r>
            <a:br/>
            <a:r>
              <a:t>• Requires manual PAT configuration</a:t>
            </a:r>
            <a:br/>
            <a:r>
              <a:t>• Flaky network during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828800"/>
            <a:ext cx="420624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2011680"/>
            <a:ext cx="38404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34D399"/>
                </a:solidFill>
                <a:latin typeface="Helvetica"/>
              </a:defRPr>
            </a:pPr>
            <a:r>
              <a:t>🛡️ THE 'MOCK' FLAVOR SOLUTION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 100% Offline Out-of-the-Box: </a:t>
            </a:r>
            <a:r>
              <a:rPr b="0" sz="1000">
                <a:solidFill>
                  <a:srgbClr val="94A3B8"/>
                </a:solidFill>
              </a:rPr>
              <a:t>Runs instantly with no Wi-Fi, no credentials, and zero setup required.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 12 Deterministic Fixtures: </a:t>
            </a:r>
            <a:r>
              <a:rPr b="0" sz="1000">
                <a:solidFill>
                  <a:srgbClr val="94A3B8"/>
                </a:solidFill>
              </a:rPr>
              <a:t>Covers happy path, empty results, HTTP 403 rate limits, HTTP 500 server errors, and extreme edge strings.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 Instant Flavor Switcher: </a:t>
            </a:r>
            <a:r>
              <a:rPr b="0" sz="1000">
                <a:solidFill>
                  <a:srgbClr val="94A3B8"/>
                </a:solidFill>
              </a:rPr>
              <a:t>Configured via Gradle productFlavors ('mock', 'dev', 'stg', 'prod').</a:t>
            </a:r>
          </a:p>
          <a:p>
            <a:pPr>
              <a:spcAft>
                <a:spcPts val="800"/>
              </a:spcAft>
              <a:defRPr b="1" sz="1100">
                <a:solidFill>
                  <a:srgbClr val="F8FAFC"/>
                </a:solidFill>
              </a:defRPr>
            </a:pPr>
            <a:r>
              <a:t>•  Defensive Error Recovery: </a:t>
            </a:r>
            <a:r>
              <a:rPr b="0" sz="1000">
                <a:solidFill>
                  <a:srgbClr val="94A3B8"/>
                </a:solidFill>
              </a:rPr>
              <a:t>User-friendly retry prompts and offline guidance replace unhandled exceptions.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828800"/>
            <a:ext cx="210312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2-mock-flav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874519"/>
            <a:ext cx="2011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USER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Modern UI/UX: Material 3 &amp; Dynamic Localization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Helvetica"/>
              </a:defRPr>
            </a:pPr>
            <a:r>
              <a:t>100% Jetpack Compose with runtime language switching and responsive multi-device support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Search (Light)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56032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74519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818CF8"/>
                </a:solidFill>
                <a:latin typeface="Helvetica"/>
              </a:defRPr>
            </a:pPr>
            <a:r>
              <a:t>Details Screen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256032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874519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FBBF24"/>
                </a:solidFill>
                <a:latin typeface="Helvetica"/>
              </a:defRPr>
            </a:pPr>
            <a:r>
              <a:t>Dark Mode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828800"/>
            <a:ext cx="256032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1874519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Helvetica"/>
              </a:defRPr>
            </a:pPr>
            <a:r>
              <a:t>日本語 Localization</a:t>
            </a:r>
          </a:p>
        </p:txBody>
      </p:sp>
      <p:pic>
        <p:nvPicPr>
          <p:cNvPr id="13" name="Picture 12" descr="10-japane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240280"/>
            <a:ext cx="1828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MEDIA &amp;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Live Video Showcase &amp; Interactive Demonstrations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Helvetica"/>
              </a:defRPr>
            </a:pPr>
            <a:r>
              <a:t>Full feature walkthroughs on Phone and Tablet recorded and available in docs/videos/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  <a:latin typeface="Helvetica"/>
              </a:defRPr>
            </a:pPr>
            <a:r>
              <a:t>📱 PHONE DEMO WALKTHROUGH</a:t>
            </a:r>
          </a:p>
          <a:p>
            <a:pPr>
              <a:spcAft>
                <a:spcPts val="1000"/>
              </a:spcAft>
              <a:defRPr sz="1100" b="1">
                <a:solidFill>
                  <a:srgbClr val="818CF8"/>
                </a:solidFill>
              </a:defRPr>
            </a:pPr>
            <a:r>
              <a:t>File: docs/videos/demo.mp4 (4.9 MB)</a:t>
            </a:r>
            <a:br/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▶  Interactive GitHub repository search with 300ms debounce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▶  Seamless Light and Dark mode instant switching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▶  Dynamic in-app bilingual toggle (English ⇄ 日本語)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▶  Repository details view with animated statistics &amp; Safari/Chrome web launch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▶  Star/bookmark persistence with offline state synchronization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818CF8"/>
                </a:solidFill>
                <a:latin typeface="Helvetica"/>
              </a:defRPr>
            </a:pPr>
            <a:r>
              <a:t>💻 TABLET &amp; RESPONSIVE DEMO</a:t>
            </a:r>
          </a:p>
          <a:p>
            <a:pPr>
              <a:spcAft>
                <a:spcPts val="1000"/>
              </a:spcAft>
              <a:defRPr sz="1100" b="1">
                <a:solidFill>
                  <a:srgbClr val="38BDF8"/>
                </a:solidFill>
              </a:defRPr>
            </a:pPr>
            <a:r>
              <a:t>File: docs/videos/tablet_demo.mp4 (1.6 MB)</a:t>
            </a:r>
            <a:br/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▶  Tested across tablet form factors (2560x1600 widescreen)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▶  Adaptive FlowRow layout automatically wrapping repository tags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▶  Landscape orientation support with optimized horizontal spacing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▶  Zero-layout-shift (CLS) rendering and smooth scroll pagination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▶  Robust error handling showing recovery states without ANR</a:t>
            </a:r>
          </a:p>
        </p:txBody>
      </p:sp>
      <p:pic>
        <p:nvPicPr>
          <p:cNvPr id="9" name="Picture 8" descr="02-search-results-tab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4572000"/>
            <a:ext cx="27432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Agile Delivery, Team Scalability &amp; Strategic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Helvetica"/>
              </a:defRPr>
            </a:pPr>
            <a:r>
              <a:t>Proven architecture engineered for 50+ engineers, multi-million DAU scale, and long-term maintainability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292608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2240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34D399"/>
                </a:solidFill>
                <a:latin typeface="Helvetica"/>
              </a:defRPr>
            </a:pPr>
            <a:r>
              <a:t>100% Delivery Track Record</a:t>
            </a:r>
          </a:p>
          <a:p>
            <a:pPr>
              <a:defRPr sz="1100">
                <a:solidFill>
                  <a:srgbClr val="CBD5E1"/>
                </a:solidFill>
                <a:latin typeface="Helvetica"/>
              </a:defRPr>
            </a:pPr>
            <a:r>
              <a:t>All 9 challenge tasks (GitHub #3–#11) completed across 4 agile sprints (63 Story Points) with zero regressions.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514600" cy="292608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965960"/>
            <a:ext cx="2240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38BDF8"/>
                </a:solidFill>
                <a:latin typeface="Helvetica"/>
              </a:defRPr>
            </a:pPr>
            <a:r>
              <a:t>50+ Squad Scalability</a:t>
            </a:r>
          </a:p>
          <a:p>
            <a:pPr>
              <a:defRPr sz="1100">
                <a:solidFill>
                  <a:srgbClr val="CBD5E1"/>
                </a:solidFill>
                <a:latin typeface="Helvetica"/>
              </a:defRPr>
            </a:pPr>
            <a:r>
              <a:t>12 decoupled Gradle modules with contract-first interfaces eliminate file merge conflicts across distributed squads.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514600" cy="292608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965960"/>
            <a:ext cx="2240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818CF8"/>
                </a:solidFill>
                <a:latin typeface="Helvetica"/>
              </a:defRPr>
            </a:pPr>
            <a:r>
              <a:t>50% Multiplatform Reuse</a:t>
            </a:r>
          </a:p>
          <a:p>
            <a:pPr>
              <a:defRPr sz="1100">
                <a:solidFill>
                  <a:srgbClr val="CBD5E1"/>
                </a:solidFill>
                <a:latin typeface="Helvetica"/>
              </a:defRPr>
            </a:pPr>
            <a:r>
              <a:t>Unified networking, caching, and domain logic across Android &amp; iOS via Kotlin Multiplatform.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28800"/>
            <a:ext cx="2514600" cy="292608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965960"/>
            <a:ext cx="2240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BBF24"/>
                </a:solidFill>
                <a:latin typeface="Helvetica"/>
              </a:defRPr>
            </a:pPr>
            <a:r>
              <a:t>40% Faster Cycle Times</a:t>
            </a:r>
          </a:p>
          <a:p>
            <a:pPr>
              <a:defRPr sz="1100">
                <a:solidFill>
                  <a:srgbClr val="CBD5E1"/>
                </a:solidFill>
                <a:latin typeface="Helvetica"/>
              </a:defRPr>
            </a:pPr>
            <a:r>
              <a:t>Parallel development unblocked by domain contracts, sub-2s JVM tests, and automated quality gates.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37760"/>
            <a:ext cx="10607040" cy="1280160"/>
          </a:xfrm>
          <a:prstGeom prst="roundRect">
            <a:avLst/>
          </a:prstGeom>
          <a:solidFill>
            <a:srgbClr val="161F3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🎯 ENTERPRISE PRODUCTION READY</a:t>
            </a:r>
          </a:p>
          <a:p>
            <a:pPr>
              <a:defRPr sz="1100">
                <a:solidFill>
                  <a:srgbClr val="CBD5E1"/>
                </a:solidFill>
                <a:latin typeface="Helvetica"/>
              </a:defRPr>
            </a:pPr>
            <a:r>
              <a:t>This modernization demonstrates how architectural discipline, automated verification, and AI-augmented workflows empower engineering organizations to deliver high-velocity, multi-platform applications while eliminating technical debt.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