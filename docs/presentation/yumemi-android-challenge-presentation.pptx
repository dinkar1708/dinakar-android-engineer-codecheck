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1675"/>
  <p:notesSz cx="6858000" cy="9144000"/>
  <p:embeddedFontLst>
    <p:embeddedFont>
      <p:font typeface="Helvetica Neue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jCPjPsY3jWacVFDB0x27PQ1AaS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bold.fntdata"/><Relationship Id="rId11" Type="http://schemas.openxmlformats.org/officeDocument/2006/relationships/slide" Target="slides/slide6.xml"/><Relationship Id="rId22" Type="http://schemas.openxmlformats.org/officeDocument/2006/relationships/font" Target="fonts/HelveticaNeue-boldItalic.fntdata"/><Relationship Id="rId10" Type="http://schemas.openxmlformats.org/officeDocument/2006/relationships/slide" Target="slides/slide5.xml"/><Relationship Id="rId21" Type="http://schemas.openxmlformats.org/officeDocument/2006/relationships/font" Target="fonts/HelveticaNeue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HelveticaNeue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demonstration of how disciplined engineering practices, contract-first design, and modern quality gates transform legacy technical debt into scalable, multiplatform product delivery.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Rather than a high-risk rewrite, we executed an incremental Strangler Fig migration with zero regressions across 4 sprints, replacing legacy code with clean architectural boundaries.</a:t>
            </a:r>
            <a:endParaRPr/>
          </a:p>
        </p:txBody>
      </p:sp>
      <p:sp>
        <p:nvSpPr>
          <p:cNvPr id="92" name="Google Shape;9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Our headless KMP architecture shares 50% of the core business, network, and caching logic with iOS while preserving 100% native UI fidelity and performance on both platforms.</a:t>
            </a:r>
            <a:endParaRPr/>
          </a:p>
        </p:txBody>
      </p:sp>
      <p:sp>
        <p:nvSpPr>
          <p:cNvPr id="104" name="Google Shape;10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Engineering excellence connects documentation directly to deployment: ADR contracts allow engineers to build in parallel without blocking each other, moving safely through automated quality gates into release.</a:t>
            </a:r>
            <a:endParaRPr/>
          </a:p>
        </p:txBody>
      </p:sp>
      <p:sp>
        <p:nvSpPr>
          <p:cNvPr id="118" name="Google Shape;11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treat AI as a velocity multiplier bound by strict security guardrails: zero secrets, compliance with Yumemi AI policies, living skill governance, and 100% human accountability.</a:t>
            </a:r>
            <a:endParaRPr/>
          </a:p>
        </p:txBody>
      </p:sp>
      <p:sp>
        <p:nvSpPr>
          <p:cNvPr id="134" name="Google Shape;134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achieved 83.9% line coverage and sub-2-second JVM test execution, empirically validating CPU, memory, network, pagination, and caching using Android Studio Profiler.</a:t>
            </a:r>
            <a:endParaRPr/>
          </a:p>
        </p:txBody>
      </p:sp>
      <p:sp>
        <p:nvSpPr>
          <p:cNvPr id="148" name="Google Shape;148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Compose Previews shrink developer inner loops from minutes to seconds, letting developers catch edge-case UI regressions before code review.</a:t>
            </a:r>
            <a:endParaRPr/>
          </a:p>
        </p:txBody>
      </p:sp>
      <p:sp>
        <p:nvSpPr>
          <p:cNvPr id="167" name="Google Shape;167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409d7431cd3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6" name="Google Shape;176;g409d7431cd3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Compose Previews shrink developer inner loops from minutes to seconds, letting developers catch edge-case UI regressions before code review.</a:t>
            </a:r>
            <a:endParaRPr/>
          </a:p>
        </p:txBody>
      </p:sp>
      <p:sp>
        <p:nvSpPr>
          <p:cNvPr id="177" name="Google Shape;177;g409d7431cd3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Senior engineering means empathy for evaluators: the mock flavor guarantees an immediate, deterministic, zero-friction demonstration.</a:t>
            </a:r>
            <a:endParaRPr/>
          </a:p>
        </p:txBody>
      </p:sp>
      <p:sp>
        <p:nvSpPr>
          <p:cNvPr id="186" name="Google Shape;186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" name="Google Shape;198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Our UI adapts defensively across phones and tablets with dynamic bilingual switching and zero-layout-shift skeletons.</a:t>
            </a:r>
            <a:endParaRPr/>
          </a:p>
        </p:txBody>
      </p:sp>
      <p:sp>
        <p:nvSpPr>
          <p:cNvPr id="199" name="Google Shape;199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8" name="Google Shape;218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Both demo videos in docs/videos/ provide comprehensive proof of responsiveness, dynamic theme toggling, bilingual localization, and fluid 60fps animations on Phone and Tablet.</a:t>
            </a:r>
            <a:endParaRPr/>
          </a:p>
        </p:txBody>
      </p:sp>
      <p:sp>
        <p:nvSpPr>
          <p:cNvPr id="219" name="Google Shape;219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1" name="Google Shape;231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project proves that the same architecture powering high-velocity agile sprints is engineered for very large-scale production apps—handling millions of users, distributed teams, and rigorous performance demands.</a:t>
            </a:r>
            <a:endParaRPr/>
          </a:p>
        </p:txBody>
      </p:sp>
      <p:sp>
        <p:nvSpPr>
          <p:cNvPr id="232" name="Google Shape;232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409d7431cd3_0_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" name="Google Shape;249;g409d7431cd3_0_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project proves that the same architecture powering high-velocity agile sprints is engineered for very large-scale production apps—handling millions of users, distributed teams, and rigorous performance demands.</a:t>
            </a:r>
            <a:endParaRPr/>
          </a:p>
        </p:txBody>
      </p:sp>
      <p:sp>
        <p:nvSpPr>
          <p:cNvPr id="250" name="Google Shape;250;g409d7431cd3_0_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/>
          <p:nvPr/>
        </p:nvSpPr>
        <p:spPr>
          <a:xfrm>
            <a:off x="731520" y="1645920"/>
            <a:ext cx="109728" cy="329184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1097280" y="1463040"/>
            <a:ext cx="685800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8BD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ENTERPRISE MODERNIZATION CASE STUDY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Modernizing Android:</a:t>
            </a:r>
            <a:br>
              <a:rPr b="1" i="0" lang="en-US" sz="3600" u="none" cap="none" strike="noStrike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3600" u="none" cap="none" strike="noStrike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Clean Architecture &amp;</a:t>
            </a:r>
            <a:br>
              <a:rPr b="1" i="0" lang="en-US" sz="3600" u="none" cap="none" strike="noStrike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3600" u="none" cap="none" strike="noStrike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Multiplatform Strategy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Transforming technical debt into a resilient, multiplatform product delivery engine across 4 agile sprints.</a:t>
            </a:r>
            <a:endParaRPr/>
          </a:p>
          <a:p>
            <a:pPr indent="0" lvl="0" marL="0" marR="0" rtl="0" algn="l">
              <a:spcBef>
                <a:spcPts val="28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818C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Presenter: Dinakar Prasad Maurya  |  Yumemi Android Engineer Code Check</a:t>
            </a:r>
            <a:endParaRPr/>
          </a:p>
        </p:txBody>
      </p:sp>
      <p:pic>
        <p:nvPicPr>
          <p:cNvPr id="87" name="Google Shape;87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17901" y="701600"/>
            <a:ext cx="2655600" cy="5898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54949" y="111824"/>
            <a:ext cx="2655600" cy="58988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8BD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STRATEGY &amp; MIGRATION</a:t>
            </a:r>
            <a:endParaRPr/>
          </a:p>
        </p:txBody>
      </p:sp>
      <p:sp>
        <p:nvSpPr>
          <p:cNvPr id="95" name="Google Shape;95;p2"/>
          <p:cNvSpPr txBox="1"/>
          <p:nvPr/>
        </p:nvSpPr>
        <p:spPr>
          <a:xfrm>
            <a:off x="731520" y="77724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Challenge vs. Modernization Strategy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Migrating high-risk technical debt using the incremental Strangler Fig pattern</a:t>
            </a:r>
            <a:endParaRPr/>
          </a:p>
        </p:txBody>
      </p:sp>
      <p:sp>
        <p:nvSpPr>
          <p:cNvPr id="97" name="Google Shape;97;p2"/>
          <p:cNvSpPr/>
          <p:nvPr/>
        </p:nvSpPr>
        <p:spPr>
          <a:xfrm>
            <a:off x="731520" y="1828800"/>
            <a:ext cx="5120640" cy="4389120"/>
          </a:xfrm>
          <a:prstGeom prst="roundRect">
            <a:avLst>
              <a:gd fmla="val 16667" name="adj"/>
            </a:avLst>
          </a:prstGeom>
          <a:solidFill>
            <a:srgbClr val="161F36"/>
          </a:solidFill>
          <a:ln cap="flat" cmpd="sng" w="15225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1005840" y="2011680"/>
            <a:ext cx="45720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8717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⚠️  LEGACY MONOLITH (INITIAL STATE)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 Monolithic Architecture: </a:t>
            </a: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Single ':app' module with networking, JSON parsing, and UI tightly coupled in one Activity.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 Thread Blocking &amp; Memory Leaks: </a:t>
            </a: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Main-thread freezes via runBlocking; Fragment ViewBinding leaks causing Out-Of-Memory (OOM).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 Zero Automated Safety Net: </a:t>
            </a: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 automated tests (0% line coverage); high regression risk for every modification.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 Unhandled Edge Cases &amp; Crashes: </a:t>
            </a: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Unhandled HTTP 403 GitHub rate limits, missing error states, and unhandled rotation process death.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6217920" y="1828800"/>
            <a:ext cx="5212080" cy="4389120"/>
          </a:xfrm>
          <a:prstGeom prst="roundRect">
            <a:avLst>
              <a:gd fmla="val 16667" name="adj"/>
            </a:avLst>
          </a:prstGeom>
          <a:solidFill>
            <a:srgbClr val="161F36"/>
          </a:solidFill>
          <a:ln cap="flat" cmpd="sng" w="15225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6492240" y="2011680"/>
            <a:ext cx="466344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4D3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✅  STRANGLER FIG MODERNIZATION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 4 Structured Agile Sprints: </a:t>
            </a: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Zero big-bang rewrites; incremental feature extraction with production integrity at every step.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 Contract-First Architecture: </a:t>
            </a: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Pure Kotlin domain models unblock parallel squad development between UI and Data.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 Defensive Quality Gates: </a:t>
            </a: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164+ automated tests (83.9% coverage), Turbine Flow testing, and Detekt CI analysis.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 100% Offline Mock Flavor: </a:t>
            </a: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Bypasses GitHub's 60 req/hr rate limit with 12 deterministic test fixtures for flawless reviews.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8BD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SYSTEM ARCHITECTURE</a:t>
            </a:r>
            <a:endParaRPr/>
          </a:p>
        </p:txBody>
      </p:sp>
      <p:sp>
        <p:nvSpPr>
          <p:cNvPr id="107" name="Google Shape;107;p3"/>
          <p:cNvSpPr txBox="1"/>
          <p:nvPr/>
        </p:nvSpPr>
        <p:spPr>
          <a:xfrm>
            <a:off x="731520" y="77724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Multi-Platform Architecture (Clean Arch + KMP)</a:t>
            </a:r>
            <a:endParaRPr/>
          </a:p>
        </p:txBody>
      </p:sp>
      <p:sp>
        <p:nvSpPr>
          <p:cNvPr id="108" name="Google Shape;108;p3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Decoupled 12-module Clean Architecture with 50% core code sharing across Android &amp; iOS</a:t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731520" y="1828800"/>
            <a:ext cx="3383280" cy="4389120"/>
          </a:xfrm>
          <a:prstGeom prst="roundRect">
            <a:avLst>
              <a:gd fmla="val 16667" name="adj"/>
            </a:avLst>
          </a:prstGeom>
          <a:solidFill>
            <a:srgbClr val="161F36"/>
          </a:solidFill>
          <a:ln cap="flat" cmpd="sng" w="152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914400" y="2011680"/>
            <a:ext cx="301752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8BD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🏛️  CORE &amp; DOMAIN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:core:domain</a:t>
            </a:r>
            <a:br>
              <a:rPr b="1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Pure Kotlin business models (RepositoryItem, Owner) &amp; repository interfaces. Zero Android dependencies.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:core:network</a:t>
            </a:r>
            <a:br>
              <a:rPr b="1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Ktor HTTP client engine with explicit URL logging, serialization, and timeout handling.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:core:data</a:t>
            </a:r>
            <a:br>
              <a:rPr b="1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GitHubRepositoryImpl with query caching (TTL expiration) &amp; resilient network error mapping.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:shared-core</a:t>
            </a:r>
            <a:br>
              <a:rPr b="1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Umbrella KMP module exporting shared_core.framework for iOS integration.</a:t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4389120" y="1828800"/>
            <a:ext cx="3383280" cy="4389120"/>
          </a:xfrm>
          <a:prstGeom prst="roundRect">
            <a:avLst>
              <a:gd fmla="val 16667" name="adj"/>
            </a:avLst>
          </a:prstGeom>
          <a:solidFill>
            <a:srgbClr val="161F36"/>
          </a:solidFill>
          <a:ln cap="flat" cmpd="sng" w="15225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4572000" y="2011680"/>
            <a:ext cx="301752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818C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📱  FEATURES &amp; UI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:feature:search</a:t>
            </a:r>
            <a:br>
              <a:rPr b="1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Repository search with 300ms debounce, Flow state, and Compose list.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:feature:detail</a:t>
            </a:r>
            <a:br>
              <a:rPr b="1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Detailed stats, owner profile, and Chrome Custom Tabs web launch.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:feature:settings</a:t>
            </a:r>
            <a:br>
              <a:rPr b="1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Dynamic Theme (System/Dark/Light) &amp; Dynamic in-app Language (JA/EN).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:feature:starred</a:t>
            </a:r>
            <a:br>
              <a:rPr b="1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Local starred bookmark persistence with instant UI state sync.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:core:designsystem</a:t>
            </a:r>
            <a:br>
              <a:rPr b="1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Material 3 tokens, CodeCheckTheme, and responsive layouts.</a:t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8046720" y="1828800"/>
            <a:ext cx="3383280" cy="4389120"/>
          </a:xfrm>
          <a:prstGeom prst="roundRect">
            <a:avLst>
              <a:gd fmla="val 16667" name="adj"/>
            </a:avLst>
          </a:prstGeom>
          <a:solidFill>
            <a:srgbClr val="161F36"/>
          </a:solidFill>
          <a:ln cap="flat" cmpd="sng" w="15225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8229600" y="2011680"/>
            <a:ext cx="301752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4D3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⚡  NATIVE PLATFORMS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Android: Single Activity App</a:t>
            </a:r>
            <a:br>
              <a:rPr b="1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MainActivity (@AndroidEntryPoint) hosting Compose AppNavHost with Hilt dependency injection.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Android: 100% Jetpack Compose</a:t>
            </a:r>
            <a:br>
              <a:rPr b="1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Unidirectional Data Flow (UDF) via StateFlow, supporting light/dark theme &amp; multi-device preview.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iOS: Native SwiftUI App</a:t>
            </a:r>
            <a:br>
              <a:rPr b="1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iosApp/CodeCheck-iOS companion consuming shared_core via Swift async/await without rewriting business logic.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High Code Reusability</a:t>
            </a:r>
            <a:br>
              <a:rPr b="1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50% core code reuse with 100% native UI fidelity and platform-native performance.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8BD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TEAM OPERATING MODEL</a:t>
            </a:r>
            <a:endParaRPr/>
          </a:p>
        </p:txBody>
      </p:sp>
      <p:sp>
        <p:nvSpPr>
          <p:cNvPr id="121" name="Google Shape;121;p4"/>
          <p:cNvSpPr txBox="1"/>
          <p:nvPr/>
        </p:nvSpPr>
        <p:spPr>
          <a:xfrm>
            <a:off x="731520" y="77724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Documentation-to-Delivery: End-to-End Team Workflow</a:t>
            </a:r>
            <a:endParaRPr/>
          </a:p>
        </p:txBody>
      </p:sp>
      <p:sp>
        <p:nvSpPr>
          <p:cNvPr id="122" name="Google Shape;122;p4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Contract-first development, automated review gates, and multi-tier release trains</a:t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731520" y="1828800"/>
            <a:ext cx="2514600" cy="4389120"/>
          </a:xfrm>
          <a:prstGeom prst="roundRect">
            <a:avLst>
              <a:gd fmla="val 16667" name="adj"/>
            </a:avLst>
          </a:prstGeom>
          <a:solidFill>
            <a:srgbClr val="161F36"/>
          </a:solidFill>
          <a:ln cap="flat" cmpd="sng" w="152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914400" y="2011680"/>
            <a:ext cx="214884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8BD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 Architecture Contracts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 formal Architecture Decision Records (ADRs) define contracts before implementation begins.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🎯 Zero Ambiguity:</a:t>
            </a:r>
            <a:br>
              <a:rPr b="1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Decisions documented in git</a:t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3429000" y="1828800"/>
            <a:ext cx="2514600" cy="4389120"/>
          </a:xfrm>
          <a:prstGeom prst="roundRect">
            <a:avLst>
              <a:gd fmla="val 16667" name="adj"/>
            </a:avLst>
          </a:prstGeom>
          <a:solidFill>
            <a:srgbClr val="161F36"/>
          </a:solidFill>
          <a:ln cap="flat" cmpd="sng" w="15225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3611880" y="2011680"/>
            <a:ext cx="214884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818C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 Parallel Squad Dev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UI teams develop against fake repositories while Data teams implement Ktor APIs simultaneously.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🚀 Zero Blocking:</a:t>
            </a:r>
            <a:br>
              <a:rPr b="1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Independent testable squads</a:t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6126480" y="1828800"/>
            <a:ext cx="2514600" cy="4389120"/>
          </a:xfrm>
          <a:prstGeom prst="roundRect">
            <a:avLst>
              <a:gd fmla="val 16667" name="adj"/>
            </a:avLst>
          </a:prstGeom>
          <a:solidFill>
            <a:srgbClr val="161F36"/>
          </a:solidFill>
          <a:ln cap="flat" cmpd="sng" w="15225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6309360" y="2011680"/>
            <a:ext cx="214884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BBF2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3. 5-Tier Review Gate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Self-review → AI check → Automated CI → Bot linting → Peer review with Conventional Badges.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🛡️ Conventional Badges:</a:t>
            </a:r>
            <a:br>
              <a:rPr b="1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[must] [imo] [nits] [memo]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8823960" y="1828800"/>
            <a:ext cx="2514600" cy="4389120"/>
          </a:xfrm>
          <a:prstGeom prst="roundRect">
            <a:avLst>
              <a:gd fmla="val 16667" name="adj"/>
            </a:avLst>
          </a:prstGeom>
          <a:solidFill>
            <a:srgbClr val="161F36"/>
          </a:solidFill>
          <a:ln cap="flat" cmpd="sng" w="15225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9006840" y="2011680"/>
            <a:ext cx="214884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4D3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4. Release Promotion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3-tier branch promotion (dev → stg → main) across 4 product flavors (dev, mock, stg, prod).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📦 Production Safe:</a:t>
            </a:r>
            <a:br>
              <a:rPr b="1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Zero-downtime releases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8BD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 &amp; SECURITY GOVERNANCE</a:t>
            </a:r>
            <a:endParaRPr/>
          </a:p>
        </p:txBody>
      </p:sp>
      <p:sp>
        <p:nvSpPr>
          <p:cNvPr id="137" name="Google Shape;137;p5"/>
          <p:cNvSpPr txBox="1"/>
          <p:nvPr/>
        </p:nvSpPr>
        <p:spPr>
          <a:xfrm>
            <a:off x="731520" y="77724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AI-Augmented Engineering, Security &amp; Governance Guardrails</a:t>
            </a:r>
            <a:endParaRPr/>
          </a:p>
        </p:txBody>
      </p:sp>
      <p:sp>
        <p:nvSpPr>
          <p:cNvPr id="138" name="Google Shape;138;p5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Multi-model orchestration paired with enterprise zero-trust security and human accountability</a:t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731520" y="1828800"/>
            <a:ext cx="3429000" cy="4389120"/>
          </a:xfrm>
          <a:prstGeom prst="roundRect">
            <a:avLst>
              <a:gd fmla="val 16667" name="adj"/>
            </a:avLst>
          </a:prstGeom>
          <a:solidFill>
            <a:srgbClr val="161F36"/>
          </a:solidFill>
          <a:ln cap="flat" cmpd="sng" w="152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 txBox="1"/>
          <p:nvPr/>
        </p:nvSpPr>
        <p:spPr>
          <a:xfrm>
            <a:off x="914400" y="2011680"/>
            <a:ext cx="306324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8BD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🤖 Multi-Tool Orchestration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Google Gemini 1.5: </a:t>
            </a: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Architecture, clean multi-module contracts, test writing.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Claude Code &amp; Sonnet: </a:t>
            </a: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Pair programming, refactoring, and HTML UI/UX design specs.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GitHub Copilot: </a:t>
            </a: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In-IDE autocomplete and repetitive boilerplate acceleration.</a:t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4343400" y="1828800"/>
            <a:ext cx="3429000" cy="4389120"/>
          </a:xfrm>
          <a:prstGeom prst="roundRect">
            <a:avLst>
              <a:gd fmla="val 16667" name="adj"/>
            </a:avLst>
          </a:prstGeom>
          <a:solidFill>
            <a:srgbClr val="161F36"/>
          </a:solidFill>
          <a:ln cap="flat" cmpd="sng" w="15225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 txBox="1"/>
          <p:nvPr/>
        </p:nvSpPr>
        <p:spPr>
          <a:xfrm>
            <a:off x="4526280" y="2011680"/>
            <a:ext cx="306324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8717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🛡️ Enterprise Security &amp; Privacy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Zero Secret Leakage: </a:t>
            </a: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Strictly no API tokens, private keys, or credentials committed or sent to external LLMs.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Local Isolation: </a:t>
            </a: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API tokens kept exclusively in local.properties; .gitignore strictly enforced.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Defensive Network Layer: </a:t>
            </a: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Graceful handling of rate limits and network errors without exposing tokens.</a:t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7955280" y="1828800"/>
            <a:ext cx="3429000" cy="4389120"/>
          </a:xfrm>
          <a:prstGeom prst="roundRect">
            <a:avLst>
              <a:gd fmla="val 16667" name="adj"/>
            </a:avLst>
          </a:prstGeom>
          <a:solidFill>
            <a:srgbClr val="161F36"/>
          </a:solidFill>
          <a:ln cap="flat" cmpd="sng" w="15225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 txBox="1"/>
          <p:nvPr/>
        </p:nvSpPr>
        <p:spPr>
          <a:xfrm>
            <a:off x="8138160" y="2011680"/>
            <a:ext cx="306324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4D3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⚖️ Zero-Trust Verification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100% Human Accountability: </a:t>
            </a: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Every single line of AI-assisted code is verified by human engineers.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Automated Gatekeeper: </a:t>
            </a: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All code must compile, pass 164+ tests, and have 0 Detekt violations.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Living AI Skills: </a:t>
            </a: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Reusable skills in .agents/skills/ &amp; .claude/skills/ prevent architectural drift.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8BD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QUALITY &amp; PERFORMANCE</a:t>
            </a:r>
            <a:endParaRPr/>
          </a:p>
        </p:txBody>
      </p:sp>
      <p:sp>
        <p:nvSpPr>
          <p:cNvPr id="151" name="Google Shape;151;p6"/>
          <p:cNvSpPr txBox="1"/>
          <p:nvPr/>
        </p:nvSpPr>
        <p:spPr>
          <a:xfrm>
            <a:off x="731520" y="77724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Quality Gates, Testing Strategy &amp; 0-Defect Verification</a:t>
            </a:r>
            <a:endParaRPr/>
          </a:p>
        </p:txBody>
      </p:sp>
      <p:sp>
        <p:nvSpPr>
          <p:cNvPr id="152" name="Google Shape;152;p6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83.9% coverage, sub-2s JVM test execution, and telemetry-verified performance</a:t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731520" y="1828800"/>
            <a:ext cx="2514600" cy="1005840"/>
          </a:xfrm>
          <a:prstGeom prst="roundRect">
            <a:avLst>
              <a:gd fmla="val 16667" name="adj"/>
            </a:avLst>
          </a:prstGeom>
          <a:solidFill>
            <a:srgbClr val="161F36"/>
          </a:solidFill>
          <a:ln cap="flat" cmpd="sng" w="152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 txBox="1"/>
          <p:nvPr/>
        </p:nvSpPr>
        <p:spPr>
          <a:xfrm>
            <a:off x="868680" y="1874519"/>
            <a:ext cx="2240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38BD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164+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Automated Tests</a:t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3429000" y="1828800"/>
            <a:ext cx="2514600" cy="1005840"/>
          </a:xfrm>
          <a:prstGeom prst="roundRect">
            <a:avLst>
              <a:gd fmla="val 16667" name="adj"/>
            </a:avLst>
          </a:prstGeom>
          <a:solidFill>
            <a:srgbClr val="161F36"/>
          </a:solidFill>
          <a:ln cap="flat" cmpd="sng" w="15225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 txBox="1"/>
          <p:nvPr/>
        </p:nvSpPr>
        <p:spPr>
          <a:xfrm>
            <a:off x="3566160" y="1874519"/>
            <a:ext cx="2240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34D3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83.9%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Kover Line Coverage</a:t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6126480" y="1828800"/>
            <a:ext cx="2514600" cy="1005840"/>
          </a:xfrm>
          <a:prstGeom prst="roundRect">
            <a:avLst>
              <a:gd fmla="val 16667" name="adj"/>
            </a:avLst>
          </a:prstGeom>
          <a:solidFill>
            <a:srgbClr val="161F36"/>
          </a:solidFill>
          <a:ln cap="flat" cmpd="sng" w="15225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 txBox="1"/>
          <p:nvPr/>
        </p:nvSpPr>
        <p:spPr>
          <a:xfrm>
            <a:off x="6263640" y="1874519"/>
            <a:ext cx="2240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BBF2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&lt; 2.0s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JVM Test Run Time</a:t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8823960" y="1828800"/>
            <a:ext cx="2514600" cy="1005840"/>
          </a:xfrm>
          <a:prstGeom prst="roundRect">
            <a:avLst>
              <a:gd fmla="val 16667" name="adj"/>
            </a:avLst>
          </a:prstGeom>
          <a:solidFill>
            <a:srgbClr val="161F36"/>
          </a:solidFill>
          <a:ln cap="flat" cmpd="sng" w="15225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 txBox="1"/>
          <p:nvPr/>
        </p:nvSpPr>
        <p:spPr>
          <a:xfrm>
            <a:off x="8961120" y="1874519"/>
            <a:ext cx="2240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818C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Detekt Violations</a:t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731520" y="3017520"/>
            <a:ext cx="8046720" cy="3291840"/>
          </a:xfrm>
          <a:prstGeom prst="roundRect">
            <a:avLst>
              <a:gd fmla="val 16667" name="adj"/>
            </a:avLst>
          </a:prstGeom>
          <a:solidFill>
            <a:srgbClr val="161F36"/>
          </a:solidFill>
          <a:ln cap="flat" cmpd="sng" w="15225">
            <a:solidFill>
              <a:srgbClr val="2A385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 txBox="1"/>
          <p:nvPr/>
        </p:nvSpPr>
        <p:spPr>
          <a:xfrm>
            <a:off x="1005840" y="3154680"/>
            <a:ext cx="7498079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8BD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🔬 EMPIRICAL VERIFICATION ACROSS MULTIPLE DIMENSIONS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 Turbine Flow Testing &amp; Ktor MockEngine: </a:t>
            </a: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Tests full state transitions deterministically without live internet access.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 Pagination &amp; Chunking Resilience: </a:t>
            </a: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Unit-tested incremental paging (loadNextPage), state appending, and edge boundary detection.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 Loading UX &amp; Shimmer Skeletons: </a:t>
            </a: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Zero-layout-shift (CLS) skeleton screens for instant visual feedback during queries.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 High-Performance Cache &amp; Debounce: </a:t>
            </a: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Thread-safe InMemoryCache with TTL expiration and 300ms query debounce preventing spam.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 Android Studio Profiling Verification: </a:t>
            </a: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CPU Trace (0 main-thread blocks), Heap Dump (0 leaks), and Network Inspector verified.</a:t>
            </a:r>
            <a:endParaRPr/>
          </a:p>
        </p:txBody>
      </p:sp>
      <p:pic>
        <p:nvPicPr>
          <p:cNvPr id="163" name="Google Shape;163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21700" y="140675"/>
            <a:ext cx="2996475" cy="6655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8BD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DEVELOPER VELOCITY</a:t>
            </a:r>
            <a:endParaRPr/>
          </a:p>
        </p:txBody>
      </p:sp>
      <p:sp>
        <p:nvSpPr>
          <p:cNvPr id="170" name="Google Shape;170;p7"/>
          <p:cNvSpPr txBox="1"/>
          <p:nvPr/>
        </p:nvSpPr>
        <p:spPr>
          <a:xfrm>
            <a:off x="731520" y="77724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Fast Inner Loop: Compose Previews &amp; Velocity</a:t>
            </a:r>
            <a:endParaRPr/>
          </a:p>
        </p:txBody>
      </p:sp>
      <p:sp>
        <p:nvSpPr>
          <p:cNvPr id="171" name="Google Shape;171;p7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Sub-second visual feedback loops catching edge-case UI regressions before code review</a:t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731520" y="1828800"/>
            <a:ext cx="5486400" cy="4389120"/>
          </a:xfrm>
          <a:prstGeom prst="roundRect">
            <a:avLst>
              <a:gd fmla="val 16667" name="adj"/>
            </a:avLst>
          </a:prstGeom>
          <a:solidFill>
            <a:srgbClr val="161F36"/>
          </a:solidFill>
          <a:ln cap="flat" cmpd="sng" w="15225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 txBox="1"/>
          <p:nvPr/>
        </p:nvSpPr>
        <p:spPr>
          <a:xfrm>
            <a:off x="1005840" y="2011680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818C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⚡ ACCELERATING THE INNER LOOP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 Zero Build Wait Time</a:t>
            </a:r>
            <a:br>
              <a:rPr b="1" i="0" lang="en-US" sz="1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Inspect UI composables instantly in Android Studio without compiling full APKs or booting heavy emulators.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 Simultaneous Multi-State Canvas</a:t>
            </a:r>
            <a:br>
              <a:rPr b="1" i="0" lang="en-US" sz="1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Renders Light, Dark, Loading (Skeleton), Empty, and Error states side-by-side on a single preview surface.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 100% Offline Preview Mocks</a:t>
            </a:r>
            <a:br>
              <a:rPr b="1" i="0" lang="en-US" sz="1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UI engineers design and fine-tune complex components without backend API dependencies or network lag.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 Multi-Device &amp; Orientation Checks</a:t>
            </a:r>
            <a:br>
              <a:rPr b="1" i="0" lang="en-US" sz="1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Real-time phone vs. tablet layout previews ensuring zero layout shifts and seamless adaptive FlowRow wrapping.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409d7431cd3_0_0"/>
          <p:cNvSpPr txBox="1"/>
          <p:nvPr/>
        </p:nvSpPr>
        <p:spPr>
          <a:xfrm>
            <a:off x="731520" y="457200"/>
            <a:ext cx="10515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8BD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DEVELOPER VELOCITY</a:t>
            </a:r>
            <a:endParaRPr/>
          </a:p>
        </p:txBody>
      </p:sp>
      <p:sp>
        <p:nvSpPr>
          <p:cNvPr id="180" name="Google Shape;180;g409d7431cd3_0_0"/>
          <p:cNvSpPr txBox="1"/>
          <p:nvPr/>
        </p:nvSpPr>
        <p:spPr>
          <a:xfrm>
            <a:off x="731520" y="777240"/>
            <a:ext cx="1051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Fast Inner Loop: Compose Previews &amp; Velocity</a:t>
            </a:r>
            <a:endParaRPr/>
          </a:p>
        </p:txBody>
      </p:sp>
      <p:sp>
        <p:nvSpPr>
          <p:cNvPr id="181" name="Google Shape;181;g409d7431cd3_0_0"/>
          <p:cNvSpPr txBox="1"/>
          <p:nvPr/>
        </p:nvSpPr>
        <p:spPr>
          <a:xfrm>
            <a:off x="731520" y="1371600"/>
            <a:ext cx="10515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Sub-second visual feedback loops catching edge-case UI regressions before code review</a:t>
            </a:r>
            <a:endParaRPr/>
          </a:p>
        </p:txBody>
      </p:sp>
      <p:pic>
        <p:nvPicPr>
          <p:cNvPr id="182" name="Google Shape;182;g409d7431cd3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1250" y="1671475"/>
            <a:ext cx="9508029" cy="4981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8BD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DEFENSIVE RELIABILITY</a:t>
            </a:r>
            <a:endParaRPr/>
          </a:p>
        </p:txBody>
      </p:sp>
      <p:sp>
        <p:nvSpPr>
          <p:cNvPr id="189" name="Google Shape;189;p8"/>
          <p:cNvSpPr txBox="1"/>
          <p:nvPr/>
        </p:nvSpPr>
        <p:spPr>
          <a:xfrm>
            <a:off x="731520" y="77724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Reviewer Empathy: 100% Offline 'mock' Flavor</a:t>
            </a:r>
            <a:endParaRPr/>
          </a:p>
        </p:txBody>
      </p:sp>
      <p:sp>
        <p:nvSpPr>
          <p:cNvPr id="190" name="Google Shape;190;p8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Eliminating GitHub API rate limits with deterministic fixtures and zero-friction evaluation</a:t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731520" y="1828800"/>
            <a:ext cx="3931920" cy="4389120"/>
          </a:xfrm>
          <a:prstGeom prst="roundRect">
            <a:avLst>
              <a:gd fmla="val 16667" name="adj"/>
            </a:avLst>
          </a:prstGeom>
          <a:solidFill>
            <a:srgbClr val="161F36"/>
          </a:solidFill>
          <a:ln cap="flat" cmpd="sng" w="15225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 txBox="1"/>
          <p:nvPr/>
        </p:nvSpPr>
        <p:spPr>
          <a:xfrm>
            <a:off x="914400" y="2011680"/>
            <a:ext cx="35661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8717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⚠️ THE RATE LIMIT TRAP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GitHub's public API enforces a strict 60 requests/hour limit per IP address.</a:t>
            </a:r>
            <a:br>
              <a:rPr b="0" i="0" lang="en-US" sz="11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1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1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Evaluators testing candidates' apps frequently hit unexpected HTTP 403 crashes when testing multiple search queries or running automated suites.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Impact on Candidate Evaluation:</a:t>
            </a:r>
            <a:b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App appears broken to reviewer</a:t>
            </a:r>
            <a:b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Requires manual PAT configuration</a:t>
            </a:r>
            <a:b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Flaky network during live demo</a:t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4937760" y="1828800"/>
            <a:ext cx="4206240" cy="4389120"/>
          </a:xfrm>
          <a:prstGeom prst="roundRect">
            <a:avLst>
              <a:gd fmla="val 16667" name="adj"/>
            </a:avLst>
          </a:prstGeom>
          <a:solidFill>
            <a:srgbClr val="161F36"/>
          </a:solidFill>
          <a:ln cap="flat" cmpd="sng" w="15225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 txBox="1"/>
          <p:nvPr/>
        </p:nvSpPr>
        <p:spPr>
          <a:xfrm>
            <a:off x="5120640" y="2011680"/>
            <a:ext cx="38404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4D3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🛡️ THE 'MOCK' FLAVOR SOLUTION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 100% Offline Out-of-the-Box: </a:t>
            </a: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Runs instantly with no Wi-Fi, no credentials, and zero setup required.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 12 Deterministic Fixtures: </a:t>
            </a: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Covers happy path, empty results, HTTP 403 rate limits, HTTP 500 server errors, and extreme edge strings.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 Instant Flavor Switcher: </a:t>
            </a: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Configured via Gradle productFlavors ('mock', 'dev', 'stg', 'prod').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 Defensive Error Recovery: </a:t>
            </a: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User-friendly retry prompts and offline guidance replace unhandled exceptions.</a:t>
            </a:r>
            <a:endParaRPr/>
          </a:p>
        </p:txBody>
      </p:sp>
      <p:pic>
        <p:nvPicPr>
          <p:cNvPr id="195" name="Google Shape;19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05175" y="1503885"/>
            <a:ext cx="2168069" cy="48158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8BD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USER EXPERIENCE</a:t>
            </a:r>
            <a:endParaRPr/>
          </a:p>
        </p:txBody>
      </p:sp>
      <p:sp>
        <p:nvSpPr>
          <p:cNvPr id="202" name="Google Shape;202;p9"/>
          <p:cNvSpPr txBox="1"/>
          <p:nvPr/>
        </p:nvSpPr>
        <p:spPr>
          <a:xfrm>
            <a:off x="731520" y="77724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Modern UI/UX: Material 3 &amp; Dynamic Localization</a:t>
            </a:r>
            <a:endParaRPr/>
          </a:p>
        </p:txBody>
      </p:sp>
      <p:sp>
        <p:nvSpPr>
          <p:cNvPr id="203" name="Google Shape;203;p9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100% Jetpack Compose with runtime language switching and responsive multi-device support</a:t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731520" y="1828800"/>
            <a:ext cx="2560320" cy="4389120"/>
          </a:xfrm>
          <a:prstGeom prst="roundRect">
            <a:avLst>
              <a:gd fmla="val 16667" name="adj"/>
            </a:avLst>
          </a:prstGeom>
          <a:solidFill>
            <a:srgbClr val="161F36"/>
          </a:solidFill>
          <a:ln cap="flat" cmpd="sng" w="152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 txBox="1"/>
          <p:nvPr/>
        </p:nvSpPr>
        <p:spPr>
          <a:xfrm>
            <a:off x="822960" y="1874519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8BD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Search (Light)</a:t>
            </a:r>
            <a:endParaRPr/>
          </a:p>
        </p:txBody>
      </p:sp>
      <p:pic>
        <p:nvPicPr>
          <p:cNvPr descr="search.png" id="206" name="Google Shape;20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" y="2240280"/>
            <a:ext cx="1828800" cy="38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9"/>
          <p:cNvSpPr/>
          <p:nvPr/>
        </p:nvSpPr>
        <p:spPr>
          <a:xfrm>
            <a:off x="3474720" y="1828800"/>
            <a:ext cx="2560320" cy="4389120"/>
          </a:xfrm>
          <a:prstGeom prst="roundRect">
            <a:avLst>
              <a:gd fmla="val 16667" name="adj"/>
            </a:avLst>
          </a:prstGeom>
          <a:solidFill>
            <a:srgbClr val="161F36"/>
          </a:solidFill>
          <a:ln cap="flat" cmpd="sng" w="15225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 txBox="1"/>
          <p:nvPr/>
        </p:nvSpPr>
        <p:spPr>
          <a:xfrm>
            <a:off x="3566160" y="1874519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18C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Details Screen</a:t>
            </a:r>
            <a:endParaRPr/>
          </a:p>
        </p:txBody>
      </p:sp>
      <p:pic>
        <p:nvPicPr>
          <p:cNvPr descr="details.png" id="209" name="Google Shape;20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40480" y="2240280"/>
            <a:ext cx="1828800" cy="38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9"/>
          <p:cNvSpPr/>
          <p:nvPr/>
        </p:nvSpPr>
        <p:spPr>
          <a:xfrm>
            <a:off x="6217920" y="1828800"/>
            <a:ext cx="2560320" cy="4389120"/>
          </a:xfrm>
          <a:prstGeom prst="roundRect">
            <a:avLst>
              <a:gd fmla="val 16667" name="adj"/>
            </a:avLst>
          </a:prstGeom>
          <a:solidFill>
            <a:srgbClr val="161F36"/>
          </a:solidFill>
          <a:ln cap="flat" cmpd="sng" w="15225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 txBox="1"/>
          <p:nvPr/>
        </p:nvSpPr>
        <p:spPr>
          <a:xfrm>
            <a:off x="6309360" y="1874519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BBF2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Dark Mode</a:t>
            </a:r>
            <a:endParaRPr/>
          </a:p>
        </p:txBody>
      </p:sp>
      <p:pic>
        <p:nvPicPr>
          <p:cNvPr descr="dark.png" id="212" name="Google Shape;21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3680" y="2240280"/>
            <a:ext cx="1828800" cy="38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9"/>
          <p:cNvSpPr/>
          <p:nvPr/>
        </p:nvSpPr>
        <p:spPr>
          <a:xfrm>
            <a:off x="8961120" y="1828800"/>
            <a:ext cx="2560320" cy="4389120"/>
          </a:xfrm>
          <a:prstGeom prst="roundRect">
            <a:avLst>
              <a:gd fmla="val 16667" name="adj"/>
            </a:avLst>
          </a:prstGeom>
          <a:solidFill>
            <a:srgbClr val="161F36"/>
          </a:solidFill>
          <a:ln cap="flat" cmpd="sng" w="15225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 txBox="1"/>
          <p:nvPr/>
        </p:nvSpPr>
        <p:spPr>
          <a:xfrm>
            <a:off x="9052560" y="1874519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4D3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日本語 Localization</a:t>
            </a:r>
            <a:endParaRPr/>
          </a:p>
        </p:txBody>
      </p:sp>
      <p:pic>
        <p:nvPicPr>
          <p:cNvPr descr="10-japanese.png" id="215" name="Google Shape;215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26880" y="2240280"/>
            <a:ext cx="1828800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8BD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MEDIA &amp; DEMONSTRATION</a:t>
            </a:r>
            <a:endParaRPr/>
          </a:p>
        </p:txBody>
      </p:sp>
      <p:sp>
        <p:nvSpPr>
          <p:cNvPr id="222" name="Google Shape;222;p10"/>
          <p:cNvSpPr txBox="1"/>
          <p:nvPr/>
        </p:nvSpPr>
        <p:spPr>
          <a:xfrm>
            <a:off x="731520" y="77724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Live Video Showcase &amp; Interactive Demonstrations</a:t>
            </a:r>
            <a:endParaRPr/>
          </a:p>
        </p:txBody>
      </p:sp>
      <p:sp>
        <p:nvSpPr>
          <p:cNvPr id="223" name="Google Shape;223;p10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Full feature walkthroughs on Phone and Tablet recorded and available in docs/videos/</a:t>
            </a: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731520" y="1828800"/>
            <a:ext cx="5120640" cy="4389120"/>
          </a:xfrm>
          <a:prstGeom prst="roundRect">
            <a:avLst>
              <a:gd fmla="val 16667" name="adj"/>
            </a:avLst>
          </a:prstGeom>
          <a:solidFill>
            <a:srgbClr val="161F36"/>
          </a:solidFill>
          <a:ln cap="flat" cmpd="sng" w="152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 txBox="1"/>
          <p:nvPr/>
        </p:nvSpPr>
        <p:spPr>
          <a:xfrm>
            <a:off x="1005840" y="2011680"/>
            <a:ext cx="45720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8BD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📱 PHONE DEMO WALKTHROUGH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818CF8"/>
                </a:solidFill>
                <a:latin typeface="Calibri"/>
                <a:ea typeface="Calibri"/>
                <a:cs typeface="Calibri"/>
                <a:sym typeface="Calibri"/>
              </a:rPr>
              <a:t>File: docs/videos/demo.mp4 (4.9 MB)</a:t>
            </a:r>
            <a:br>
              <a:rPr b="1" i="0" lang="en-US" sz="1100" u="none" cap="none" strike="noStrike">
                <a:solidFill>
                  <a:srgbClr val="818CF8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▶  Interactive GitHub repository search with 300ms debounce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▶  Seamless Light and Dark mode instant switching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▶  Dynamic in-app bilingual toggle (English ⇄ 日本語)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▶  Repository details view with animated statistics &amp; Safari/Chrome web launch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▶  Star/bookmark persistence with offline state synchronization</a:t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6217920" y="1828800"/>
            <a:ext cx="5212080" cy="4389120"/>
          </a:xfrm>
          <a:prstGeom prst="roundRect">
            <a:avLst>
              <a:gd fmla="val 16667" name="adj"/>
            </a:avLst>
          </a:prstGeom>
          <a:solidFill>
            <a:srgbClr val="161F36"/>
          </a:solidFill>
          <a:ln cap="flat" cmpd="sng" w="15225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 txBox="1"/>
          <p:nvPr/>
        </p:nvSpPr>
        <p:spPr>
          <a:xfrm>
            <a:off x="6492240" y="2011680"/>
            <a:ext cx="466344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818C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💻 TABLET &amp; RESPONSIVE DEMO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File: docs/videos/tablet_demo.mp4 (1.6 MB)</a:t>
            </a:r>
            <a:br>
              <a:rPr b="1" i="0" lang="en-US" sz="11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▶  Tested across tablet form factors (2560x1600 widescreen)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▶  Adaptive FlowRow layout automatically wrapping repository tags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▶  Landscape orientation support with optimized horizontal spacing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▶  Zero-layout-shift (CLS) rendering and smooth scroll pagination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▶  Robust error handling showing recovery states without ANR</a:t>
            </a:r>
            <a:endParaRPr/>
          </a:p>
        </p:txBody>
      </p:sp>
      <p:pic>
        <p:nvPicPr>
          <p:cNvPr descr="02-search-results-tablet.png" id="228" name="Google Shape;22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92240" y="4572000"/>
            <a:ext cx="2743200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8BD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EXECUTIVE SUMMARY</a:t>
            </a:r>
            <a:endParaRPr/>
          </a:p>
        </p:txBody>
      </p:sp>
      <p:sp>
        <p:nvSpPr>
          <p:cNvPr id="235" name="Google Shape;235;p11"/>
          <p:cNvSpPr txBox="1"/>
          <p:nvPr/>
        </p:nvSpPr>
        <p:spPr>
          <a:xfrm>
            <a:off x="731520" y="77724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Agile Delivery, Team Scalability &amp; Strategic ROI</a:t>
            </a:r>
            <a:endParaRPr/>
          </a:p>
        </p:txBody>
      </p:sp>
      <p:sp>
        <p:nvSpPr>
          <p:cNvPr id="236" name="Google Shape;236;p11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Proven architecture engineered for 50+ engineers, multi-million DAU scale, and long-term maintainability</a:t>
            </a: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731520" y="1828800"/>
            <a:ext cx="2514600" cy="2926080"/>
          </a:xfrm>
          <a:prstGeom prst="roundRect">
            <a:avLst>
              <a:gd fmla="val 16667" name="adj"/>
            </a:avLst>
          </a:prstGeom>
          <a:solidFill>
            <a:srgbClr val="161F36"/>
          </a:solidFill>
          <a:ln cap="flat" cmpd="sng" w="15225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 txBox="1"/>
          <p:nvPr/>
        </p:nvSpPr>
        <p:spPr>
          <a:xfrm>
            <a:off x="868680" y="1965960"/>
            <a:ext cx="224028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4D3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100% Delivery Track Record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9 challenge tasks (GitHub #3–#11) completed across 4 agile sprints (63 Story Points) with zero regressions.</a:t>
            </a:r>
            <a:endParaRPr/>
          </a:p>
        </p:txBody>
      </p:sp>
      <p:sp>
        <p:nvSpPr>
          <p:cNvPr id="239" name="Google Shape;239;p11"/>
          <p:cNvSpPr/>
          <p:nvPr/>
        </p:nvSpPr>
        <p:spPr>
          <a:xfrm>
            <a:off x="3429000" y="1828800"/>
            <a:ext cx="2514600" cy="2926080"/>
          </a:xfrm>
          <a:prstGeom prst="roundRect">
            <a:avLst>
              <a:gd fmla="val 16667" name="adj"/>
            </a:avLst>
          </a:prstGeom>
          <a:solidFill>
            <a:srgbClr val="161F36"/>
          </a:solidFill>
          <a:ln cap="flat" cmpd="sng" w="152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 txBox="1"/>
          <p:nvPr/>
        </p:nvSpPr>
        <p:spPr>
          <a:xfrm>
            <a:off x="3566160" y="1965960"/>
            <a:ext cx="224028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8BD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50+ Squad Scalability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 decoupled Gradle modules with contract-first interfaces eliminate file merge conflicts across distributed squads.</a:t>
            </a:r>
            <a:endParaRPr/>
          </a:p>
        </p:txBody>
      </p:sp>
      <p:sp>
        <p:nvSpPr>
          <p:cNvPr id="241" name="Google Shape;241;p11"/>
          <p:cNvSpPr/>
          <p:nvPr/>
        </p:nvSpPr>
        <p:spPr>
          <a:xfrm>
            <a:off x="6126480" y="1828800"/>
            <a:ext cx="2514600" cy="2926080"/>
          </a:xfrm>
          <a:prstGeom prst="roundRect">
            <a:avLst>
              <a:gd fmla="val 16667" name="adj"/>
            </a:avLst>
          </a:prstGeom>
          <a:solidFill>
            <a:srgbClr val="161F36"/>
          </a:solidFill>
          <a:ln cap="flat" cmpd="sng" w="15225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 txBox="1"/>
          <p:nvPr/>
        </p:nvSpPr>
        <p:spPr>
          <a:xfrm>
            <a:off x="6263640" y="1965960"/>
            <a:ext cx="224028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818C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50% Multiplatform Reuse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Unified networking, caching, and domain logic across Android &amp; iOS via Kotlin Multiplatform.</a:t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8823960" y="1828800"/>
            <a:ext cx="2514600" cy="2926080"/>
          </a:xfrm>
          <a:prstGeom prst="roundRect">
            <a:avLst>
              <a:gd fmla="val 16667" name="adj"/>
            </a:avLst>
          </a:prstGeom>
          <a:solidFill>
            <a:srgbClr val="161F36"/>
          </a:solidFill>
          <a:ln cap="flat" cmpd="sng" w="15225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 txBox="1"/>
          <p:nvPr/>
        </p:nvSpPr>
        <p:spPr>
          <a:xfrm>
            <a:off x="8961120" y="1965960"/>
            <a:ext cx="224028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BBF2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40% Faster Cycle Times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Parallel development unblocked by domain contracts, sub-2s JVM tests, and automated quality gates.</a:t>
            </a: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731520" y="4937760"/>
            <a:ext cx="10607040" cy="1280160"/>
          </a:xfrm>
          <a:prstGeom prst="roundRect">
            <a:avLst>
              <a:gd fmla="val 16667" name="adj"/>
            </a:avLst>
          </a:prstGeom>
          <a:solidFill>
            <a:srgbClr val="161F36"/>
          </a:solidFill>
          <a:ln cap="flat" cmpd="sng" w="152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 txBox="1"/>
          <p:nvPr/>
        </p:nvSpPr>
        <p:spPr>
          <a:xfrm>
            <a:off x="1005840" y="5029200"/>
            <a:ext cx="10058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🎯 ENTERPRISE PRODUCTION READY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This modernization demonstrates how architectural discipline, automated verification, and AI-augmented workflows empower engineering organizations to deliver high-velocity, multi-platform applications while eliminating technical debt.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409d7431cd3_0_21"/>
          <p:cNvSpPr txBox="1"/>
          <p:nvPr/>
        </p:nvSpPr>
        <p:spPr>
          <a:xfrm>
            <a:off x="3578100" y="1797825"/>
            <a:ext cx="4726800" cy="28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7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presented by Dinakar</a:t>
            </a:r>
            <a:endParaRPr sz="2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